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10B2-AA13-D15D-E574-9E85A9281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412F16-F186-6E5C-A093-F6189ECC9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3D678-9BCF-0E0C-40D3-5FC143F3F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3C1FC-DF4E-5ACC-D827-8E6F84F7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3F60B-7985-BD2E-EC5C-07C9CC9F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13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276ED-06AF-B2D4-605C-566612025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7EEC-C502-ECA0-7564-DB3CF33EE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560B7-A270-C48A-1177-86452A71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3C9F7-D70C-4A33-FB75-AFE594E5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ED725-8396-66C3-8622-77F6F019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95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F79E-E82D-524A-F92F-D6E14A6A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37C0B-7729-70B1-4A9B-8D400D4EC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0402-2D20-494D-8477-E1122D162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E566E-D435-BF2A-7047-78803C7F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68C30-B46A-D89B-AC8C-49653F59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84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EB648-1B65-1E29-37D2-B41DF1DDE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F16F0-4647-0C45-D33E-35B9FCDC2D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2E165-7F16-8C83-E605-03ACD1CAC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2B397-07EF-3CBF-475C-83771B75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5F971-B3E1-03D2-81BC-202F622DC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3AC84-788E-D62F-4724-9D88DA9E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8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FA99-5BE7-ECF7-72B2-5DCA12322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CC606-E3EA-3054-33B8-1735BBB74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F77F77-3BAA-590F-8671-7B3C09AB5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1744B7-878D-42DA-A7F7-B4C7293E2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E1D0B7-9BCF-2AD5-0298-A54E66A1D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9D7E0-294E-0365-DD1D-D21289E69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82A421-9548-5F24-7545-FC0A03A52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DD367A-9B14-9D77-DAE0-0A84D087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470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27E3-623F-0EDE-63BB-E437876C5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2EC6F3-F279-1BED-1C14-6ACC1C37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E7D46F-E105-FF1C-AB3D-26B0BFDF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92C11D-888D-0E08-99DE-6CC62CC2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55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EBA0E6-6C3A-D59D-B5F6-170DE6D20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4A5AEB-1549-5C06-78D4-6CA44EF5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71040-3ECE-2A45-45A9-0D21BF9A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27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8C4F-D402-1485-F399-CA1B9A24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32CEA-CB26-E3DB-5EDB-5620A807F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95B10-2536-9446-2681-7A399DB42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4E496-95F3-89B0-07CF-C05F4114D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E2CF6-1922-F581-7C65-1F5C5471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98B73-9FC2-E424-5106-2839EC444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87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AF69B-270D-9F73-54B9-2F05E83E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A8E07A-B6CA-693E-4C5B-00737C4F0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63CAA-A66A-7FC5-650F-0C60F26AC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3894F-BC9F-CF19-6CF8-EE1EEC17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3B0208-039A-A03F-E056-AEA1208C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967EC-818D-ED3D-A98D-5C507E79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05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1E2F-FE21-3611-4F4A-CAC61F85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43E80-ADD0-9A8B-D846-4B1716583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24B05-DBB8-5BC3-92CA-DDE090DD0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86086-64F5-4D90-6718-D6D78D91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BFC37-10E2-8B8B-775E-36040809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95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42E311-D01A-E64E-3F82-71CE70B29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E29B80-D9F7-93AD-A2BC-5CC780DAA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81524-D54F-8600-1F19-4ACA606D2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E21CC-1A34-1802-3217-0EABF7F5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AD49-AFBB-FC7A-9FD3-225BF3A4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3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96B9F9-E0D7-D2CE-2F7F-DB9C2CF6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6FF00-430E-3ECC-98EB-7032AEB0A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856DA-5F5E-7097-D374-9476EE19E2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5CA85-1E71-4A9E-9D84-209ABF84E29D}" type="datetimeFigureOut">
              <a:rPr lang="en-IN" smtClean="0"/>
              <a:t>02-02-2025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56329-2354-7DC3-E220-2E441235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FE527-0894-E574-1EC6-2305E69B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8F938-5ABF-4E78-982A-72913368C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49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izfile.gov.sg/" TargetMode="External"/><Relationship Id="rId13" Type="http://schemas.openxmlformats.org/officeDocument/2006/relationships/hyperlink" Target="https://www.ap.jll.com/" TargetMode="External"/><Relationship Id="rId3" Type="http://schemas.openxmlformats.org/officeDocument/2006/relationships/hyperlink" Target="https://www.linkedin.com/salary" TargetMode="External"/><Relationship Id="rId7" Type="http://schemas.openxmlformats.org/officeDocument/2006/relationships/hyperlink" Target="https://www.spglobal.com/marketintelligence" TargetMode="External"/><Relationship Id="rId12" Type="http://schemas.openxmlformats.org/officeDocument/2006/relationships/hyperlink" Target="https://www.99.co/" TargetMode="External"/><Relationship Id="rId2" Type="http://schemas.openxmlformats.org/officeDocument/2006/relationships/hyperlink" Target="https://www.jobsdb.com/" TargetMode="External"/><Relationship Id="rId16" Type="http://schemas.openxmlformats.org/officeDocument/2006/relationships/hyperlink" Target="https://www.houterasu.or.jp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loomberg.com/asia" TargetMode="External"/><Relationship Id="rId11" Type="http://schemas.openxmlformats.org/officeDocument/2006/relationships/hyperlink" Target="https://www.propertyguru.com.sg/" TargetMode="External"/><Relationship Id="rId5" Type="http://schemas.openxmlformats.org/officeDocument/2006/relationships/hyperlink" Target="https://asia.nikkei.com/" TargetMode="External"/><Relationship Id="rId15" Type="http://schemas.openxmlformats.org/officeDocument/2006/relationships/hyperlink" Target="http://www.will.org.cn/" TargetMode="External"/><Relationship Id="rId10" Type="http://schemas.openxmlformats.org/officeDocument/2006/relationships/hyperlink" Target="https://www.toyokeizai.net/" TargetMode="External"/><Relationship Id="rId4" Type="http://schemas.openxmlformats.org/officeDocument/2006/relationships/hyperlink" Target="https://www.glassdoor.com/" TargetMode="External"/><Relationship Id="rId9" Type="http://schemas.openxmlformats.org/officeDocument/2006/relationships/hyperlink" Target="http://www.gsxt.gov.cn/" TargetMode="External"/><Relationship Id="rId14" Type="http://schemas.openxmlformats.org/officeDocument/2006/relationships/hyperlink" Target="https://www.singaporelawwatch.s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E5361AF-398B-F82C-1D65-98F4C372574E}"/>
              </a:ext>
            </a:extLst>
          </p:cNvPr>
          <p:cNvSpPr/>
          <p:nvPr/>
        </p:nvSpPr>
        <p:spPr>
          <a:xfrm>
            <a:off x="181946" y="2631558"/>
            <a:ext cx="1642188" cy="81176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Case Input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FEB4F19-A007-0A3F-A95C-50CA365596FB}"/>
              </a:ext>
            </a:extLst>
          </p:cNvPr>
          <p:cNvSpPr/>
          <p:nvPr/>
        </p:nvSpPr>
        <p:spPr>
          <a:xfrm>
            <a:off x="1932991" y="3018453"/>
            <a:ext cx="429208" cy="130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CF977-434A-4930-04DB-936C4F3329AE}"/>
              </a:ext>
            </a:extLst>
          </p:cNvPr>
          <p:cNvSpPr txBox="1"/>
          <p:nvPr/>
        </p:nvSpPr>
        <p:spPr>
          <a:xfrm>
            <a:off x="2215909" y="3555030"/>
            <a:ext cx="13150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SOW Attributes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F5258A-55B6-8518-1AC0-7C031007B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648" y="2744030"/>
            <a:ext cx="646923" cy="646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D6E7A6-1E03-DB02-59CA-4189A39B0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167" y="1136276"/>
            <a:ext cx="631371" cy="631371"/>
          </a:xfrm>
          <a:prstGeom prst="rect">
            <a:avLst/>
          </a:prstGeom>
        </p:spPr>
      </p:pic>
      <p:sp>
        <p:nvSpPr>
          <p:cNvPr id="13" name="Plus Sign 12">
            <a:extLst>
              <a:ext uri="{FF2B5EF4-FFF2-40B4-BE49-F238E27FC236}">
                <a16:creationId xmlns:a16="http://schemas.microsoft.com/office/drawing/2014/main" id="{8BCDE95C-6F82-2D97-F4CC-95F04E826C83}"/>
              </a:ext>
            </a:extLst>
          </p:cNvPr>
          <p:cNvSpPr/>
          <p:nvPr/>
        </p:nvSpPr>
        <p:spPr>
          <a:xfrm>
            <a:off x="3514375" y="1363320"/>
            <a:ext cx="130629" cy="177282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BD8173-0709-0D54-6F56-3E3D0DD45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931" y="1164267"/>
            <a:ext cx="575388" cy="57538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576D42D-17BA-5610-2B58-347A26E627DE}"/>
              </a:ext>
            </a:extLst>
          </p:cNvPr>
          <p:cNvSpPr/>
          <p:nvPr/>
        </p:nvSpPr>
        <p:spPr>
          <a:xfrm>
            <a:off x="2563816" y="1044037"/>
            <a:ext cx="3329865" cy="89622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3E4DA6-7ADE-3CC1-1CB1-A53334AE0CF7}"/>
              </a:ext>
            </a:extLst>
          </p:cNvPr>
          <p:cNvSpPr txBox="1"/>
          <p:nvPr/>
        </p:nvSpPr>
        <p:spPr>
          <a:xfrm>
            <a:off x="2627280" y="659500"/>
            <a:ext cx="32664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Web Search + (U)HNWI Database Agent</a:t>
            </a:r>
            <a:endParaRPr lang="en-IN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B003546-B3F3-D8DE-EF69-9AE325D78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335" y="1136276"/>
            <a:ext cx="640510" cy="640510"/>
          </a:xfrm>
          <a:prstGeom prst="rect">
            <a:avLst/>
          </a:prstGeom>
        </p:spPr>
      </p:pic>
      <p:sp>
        <p:nvSpPr>
          <p:cNvPr id="20" name="Plus Sign 19">
            <a:extLst>
              <a:ext uri="{FF2B5EF4-FFF2-40B4-BE49-F238E27FC236}">
                <a16:creationId xmlns:a16="http://schemas.microsoft.com/office/drawing/2014/main" id="{E04D89F3-8E6A-F1E9-7688-8A03A137A18F}"/>
              </a:ext>
            </a:extLst>
          </p:cNvPr>
          <p:cNvSpPr/>
          <p:nvPr/>
        </p:nvSpPr>
        <p:spPr>
          <a:xfrm>
            <a:off x="4668982" y="1363320"/>
            <a:ext cx="130629" cy="177282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CDA6CA7A-DD9B-3E43-B935-D17F24CB8E3E}"/>
              </a:ext>
            </a:extLst>
          </p:cNvPr>
          <p:cNvSpPr/>
          <p:nvPr/>
        </p:nvSpPr>
        <p:spPr>
          <a:xfrm rot="5400000">
            <a:off x="4002333" y="2166313"/>
            <a:ext cx="429208" cy="130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67DADE6-2C07-59DC-E443-3C9560424A48}"/>
              </a:ext>
            </a:extLst>
          </p:cNvPr>
          <p:cNvSpPr/>
          <p:nvPr/>
        </p:nvSpPr>
        <p:spPr>
          <a:xfrm>
            <a:off x="3444550" y="3018453"/>
            <a:ext cx="429208" cy="1306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ADFB7F-E42E-AE69-1E34-5E90B2F3EF98}"/>
              </a:ext>
            </a:extLst>
          </p:cNvPr>
          <p:cNvSpPr txBox="1"/>
          <p:nvPr/>
        </p:nvSpPr>
        <p:spPr>
          <a:xfrm>
            <a:off x="3701463" y="3590671"/>
            <a:ext cx="1229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Data Compiler</a:t>
            </a:r>
            <a:endParaRPr lang="en-IN" sz="1400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6763C7C-062B-5F96-16C3-7E522C516B05}"/>
              </a:ext>
            </a:extLst>
          </p:cNvPr>
          <p:cNvSpPr/>
          <p:nvPr/>
        </p:nvSpPr>
        <p:spPr>
          <a:xfrm>
            <a:off x="4851499" y="3001426"/>
            <a:ext cx="705853" cy="147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862B7FF-8960-EE1C-BB28-D2CF2DFE6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3129" y="2665525"/>
            <a:ext cx="705853" cy="70585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DA805D-C81C-02CC-8931-027A5B901592}"/>
              </a:ext>
            </a:extLst>
          </p:cNvPr>
          <p:cNvSpPr txBox="1"/>
          <p:nvPr/>
        </p:nvSpPr>
        <p:spPr>
          <a:xfrm>
            <a:off x="5342590" y="3568822"/>
            <a:ext cx="19240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Validation</a:t>
            </a:r>
          </a:p>
          <a:p>
            <a:pPr algn="ctr"/>
            <a:r>
              <a:rPr lang="en-US" sz="1400" dirty="0"/>
              <a:t>SOW v/s Retrieved Data</a:t>
            </a:r>
            <a:endParaRPr lang="en-IN" sz="1400" dirty="0"/>
          </a:p>
        </p:txBody>
      </p:sp>
      <p:sp>
        <p:nvSpPr>
          <p:cNvPr id="29" name="Arrow: Bent 28">
            <a:extLst>
              <a:ext uri="{FF2B5EF4-FFF2-40B4-BE49-F238E27FC236}">
                <a16:creationId xmlns:a16="http://schemas.microsoft.com/office/drawing/2014/main" id="{A85DD9FA-FBA5-2DD7-DCD8-7DCC3E691FA7}"/>
              </a:ext>
            </a:extLst>
          </p:cNvPr>
          <p:cNvSpPr/>
          <p:nvPr/>
        </p:nvSpPr>
        <p:spPr>
          <a:xfrm>
            <a:off x="6125390" y="2110729"/>
            <a:ext cx="709127" cy="429209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Arrow: Bent 29">
            <a:extLst>
              <a:ext uri="{FF2B5EF4-FFF2-40B4-BE49-F238E27FC236}">
                <a16:creationId xmlns:a16="http://schemas.microsoft.com/office/drawing/2014/main" id="{0E1D76E2-C95C-C1FD-FA9C-340684A94FAB}"/>
              </a:ext>
            </a:extLst>
          </p:cNvPr>
          <p:cNvSpPr/>
          <p:nvPr/>
        </p:nvSpPr>
        <p:spPr>
          <a:xfrm flipV="1">
            <a:off x="6125390" y="4130028"/>
            <a:ext cx="709128" cy="408963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D475419-C949-7FC8-87CB-2B27A3C53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3681" y="2761849"/>
            <a:ext cx="586273" cy="58627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4DCE989-82C0-A2B2-13D5-EFE44516318D}"/>
              </a:ext>
            </a:extLst>
          </p:cNvPr>
          <p:cNvSpPr txBox="1"/>
          <p:nvPr/>
        </p:nvSpPr>
        <p:spPr>
          <a:xfrm>
            <a:off x="6419726" y="1554989"/>
            <a:ext cx="1577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Mismatch/Null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8523FC-B705-E10D-19AD-B7A82297B44C}"/>
              </a:ext>
            </a:extLst>
          </p:cNvPr>
          <p:cNvSpPr txBox="1"/>
          <p:nvPr/>
        </p:nvSpPr>
        <p:spPr>
          <a:xfrm>
            <a:off x="6479953" y="4749014"/>
            <a:ext cx="784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Match</a:t>
            </a:r>
            <a:endParaRPr lang="en-IN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434B4217-EA74-A246-3185-2B0023AADE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1975" y="4106185"/>
            <a:ext cx="1090597" cy="109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50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C4181-F102-53A6-8828-3786A3D80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2D0193-8DC8-2152-1468-A1FBEEA6C7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986502"/>
              </p:ext>
            </p:extLst>
          </p:nvPr>
        </p:nvGraphicFramePr>
        <p:xfrm>
          <a:off x="2625512" y="431914"/>
          <a:ext cx="7619499" cy="5782273"/>
        </p:xfrm>
        <a:graphic>
          <a:graphicData uri="http://schemas.openxmlformats.org/drawingml/2006/table">
            <a:tbl>
              <a:tblPr/>
              <a:tblGrid>
                <a:gridCol w="1405312">
                  <a:extLst>
                    <a:ext uri="{9D8B030D-6E8A-4147-A177-3AD203B41FA5}">
                      <a16:colId xmlns:a16="http://schemas.microsoft.com/office/drawing/2014/main" val="3416912887"/>
                    </a:ext>
                  </a:extLst>
                </a:gridCol>
                <a:gridCol w="3674354">
                  <a:extLst>
                    <a:ext uri="{9D8B030D-6E8A-4147-A177-3AD203B41FA5}">
                      <a16:colId xmlns:a16="http://schemas.microsoft.com/office/drawing/2014/main" val="2906028225"/>
                    </a:ext>
                  </a:extLst>
                </a:gridCol>
                <a:gridCol w="2539833">
                  <a:extLst>
                    <a:ext uri="{9D8B030D-6E8A-4147-A177-3AD203B41FA5}">
                      <a16:colId xmlns:a16="http://schemas.microsoft.com/office/drawing/2014/main" val="3558123275"/>
                    </a:ext>
                  </a:extLst>
                </a:gridCol>
              </a:tblGrid>
              <a:tr h="238741"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effectLst/>
                        </a:rPr>
                        <a:t>SOW Type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000" b="1" dirty="0">
                          <a:effectLst/>
                        </a:rPr>
                        <a:t>Description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effectLst/>
                        </a:rPr>
                        <a:t>Online Sources to perform Web Search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15578"/>
                  </a:ext>
                </a:extLst>
              </a:tr>
              <a:tr h="963712">
                <a:tc>
                  <a:txBody>
                    <a:bodyPr/>
                    <a:lstStyle/>
                    <a:p>
                      <a:r>
                        <a:rPr lang="en-IN" sz="1000" b="1" dirty="0">
                          <a:effectLst/>
                        </a:rPr>
                        <a:t>Employment SOW</a:t>
                      </a:r>
                      <a:endParaRPr lang="en-IN" sz="1000" dirty="0">
                        <a:effectLst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Proof of income from employment (e.g., salary, bonuses).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 err="1">
                          <a:effectLst/>
                          <a:hlinkClick r:id="rId2"/>
                        </a:rPr>
                        <a:t>JobsDB</a:t>
                      </a:r>
                      <a:r>
                        <a:rPr lang="en-US" sz="1000" dirty="0">
                          <a:effectLst/>
                        </a:rPr>
                        <a:t> (Asia-Pacific)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3"/>
                        </a:rPr>
                        <a:t>LinkedIn Salary Insights</a:t>
                      </a:r>
                      <a:r>
                        <a:rPr lang="en-US" sz="1000" dirty="0">
                          <a:effectLst/>
                        </a:rPr>
                        <a:t> (Asia-specific data)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4"/>
                        </a:rPr>
                        <a:t>Glassdoor</a:t>
                      </a:r>
                      <a:r>
                        <a:rPr lang="en-US" sz="1000" dirty="0">
                          <a:effectLst/>
                        </a:rPr>
                        <a:t> (Asia-specific salary data)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89679"/>
                  </a:ext>
                </a:extLst>
              </a:tr>
              <a:tr h="963712">
                <a:tc>
                  <a:txBody>
                    <a:bodyPr/>
                    <a:lstStyle/>
                    <a:p>
                      <a:r>
                        <a:rPr lang="en-IN" sz="1000" b="1" dirty="0">
                          <a:effectLst/>
                        </a:rPr>
                        <a:t>Investment SOW</a:t>
                      </a:r>
                      <a:endParaRPr lang="en-IN" sz="1000" dirty="0">
                        <a:effectLst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Proof of income from investments (e.g., stocks, bonds, dividends).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5"/>
                        </a:rPr>
                        <a:t>Nikkei Asia</a:t>
                      </a:r>
                      <a:r>
                        <a:rPr lang="en-US" sz="1000" dirty="0">
                          <a:effectLst/>
                        </a:rPr>
                        <a:t> (Japan/Asia financial news)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6"/>
                        </a:rPr>
                        <a:t>Bloomberg Asia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7"/>
                        </a:rPr>
                        <a:t>S&amp;P Global Market Intelligence</a:t>
                      </a:r>
                      <a:r>
                        <a:rPr lang="en-US" sz="1000" dirty="0">
                          <a:effectLst/>
                        </a:rPr>
                        <a:t> (Asia coverage)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539464"/>
                  </a:ext>
                </a:extLst>
              </a:tr>
              <a:tr h="1326198">
                <a:tc>
                  <a:txBody>
                    <a:bodyPr/>
                    <a:lstStyle/>
                    <a:p>
                      <a:r>
                        <a:rPr lang="en-IN" sz="1000" b="1">
                          <a:effectLst/>
                        </a:rPr>
                        <a:t>Business SOW</a:t>
                      </a:r>
                      <a:endParaRPr lang="en-IN" sz="1000">
                        <a:effectLst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Proof of income from business ownership (e.g., financial statements, tax returns).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effectLst/>
                        </a:rPr>
                        <a:t>- </a:t>
                      </a:r>
                      <a:r>
                        <a:rPr lang="en-IN" sz="1000" u="none" strike="noStrike" dirty="0">
                          <a:effectLst/>
                          <a:hlinkClick r:id="rId8"/>
                        </a:rPr>
                        <a:t>ACRA </a:t>
                      </a:r>
                      <a:r>
                        <a:rPr lang="en-IN" sz="1000" u="none" strike="noStrike" dirty="0" err="1">
                          <a:effectLst/>
                          <a:hlinkClick r:id="rId8"/>
                        </a:rPr>
                        <a:t>BizFile</a:t>
                      </a:r>
                      <a:r>
                        <a:rPr lang="en-IN" sz="1000" dirty="0">
                          <a:effectLst/>
                        </a:rPr>
                        <a:t> (Singapore business registry)</a:t>
                      </a:r>
                      <a:br>
                        <a:rPr lang="en-IN" sz="1000" dirty="0">
                          <a:effectLst/>
                        </a:rPr>
                      </a:br>
                      <a:r>
                        <a:rPr lang="en-IN" sz="1000" dirty="0">
                          <a:effectLst/>
                        </a:rPr>
                        <a:t>- </a:t>
                      </a:r>
                      <a:r>
                        <a:rPr lang="en-IN" sz="1000" u="none" strike="noStrike" dirty="0">
                          <a:effectLst/>
                          <a:hlinkClick r:id="rId9"/>
                        </a:rPr>
                        <a:t>China National Enterprise Credit Information Publicity System</a:t>
                      </a:r>
                      <a:r>
                        <a:rPr lang="en-IN" sz="1000" dirty="0">
                          <a:effectLst/>
                        </a:rPr>
                        <a:t> (China)</a:t>
                      </a:r>
                      <a:br>
                        <a:rPr lang="en-IN" sz="1000" dirty="0">
                          <a:effectLst/>
                        </a:rPr>
                      </a:br>
                      <a:r>
                        <a:rPr lang="en-IN" sz="1000" dirty="0">
                          <a:effectLst/>
                        </a:rPr>
                        <a:t>- </a:t>
                      </a:r>
                      <a:r>
                        <a:rPr lang="en-IN" sz="1000" u="none" strike="noStrike" dirty="0">
                          <a:effectLst/>
                          <a:hlinkClick r:id="rId10"/>
                        </a:rPr>
                        <a:t>Japan Company Handbook</a:t>
                      </a:r>
                      <a:r>
                        <a:rPr lang="en-IN" sz="1000" dirty="0">
                          <a:effectLst/>
                        </a:rPr>
                        <a:t> (Japan)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338528"/>
                  </a:ext>
                </a:extLst>
              </a:tr>
              <a:tr h="963712">
                <a:tc>
                  <a:txBody>
                    <a:bodyPr/>
                    <a:lstStyle/>
                    <a:p>
                      <a:r>
                        <a:rPr lang="en-IN" sz="1000" b="1">
                          <a:effectLst/>
                        </a:rPr>
                        <a:t>Property SOW</a:t>
                      </a:r>
                      <a:endParaRPr lang="en-IN" sz="1000">
                        <a:effectLst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Proof of income from property (e.g., rental income, property sale documents).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effectLst/>
                        </a:rPr>
                        <a:t>- </a:t>
                      </a:r>
                      <a:r>
                        <a:rPr lang="en-IN" sz="1000" u="none" strike="noStrike" dirty="0" err="1">
                          <a:effectLst/>
                          <a:hlinkClick r:id="rId11"/>
                        </a:rPr>
                        <a:t>PropertyGuru</a:t>
                      </a:r>
                      <a:r>
                        <a:rPr lang="en-IN" sz="1000" dirty="0">
                          <a:effectLst/>
                        </a:rPr>
                        <a:t> (Singapore, Malaysia, Thailand, Indonesia)</a:t>
                      </a:r>
                      <a:br>
                        <a:rPr lang="en-IN" sz="1000" dirty="0">
                          <a:effectLst/>
                        </a:rPr>
                      </a:br>
                      <a:r>
                        <a:rPr lang="en-IN" sz="1000" dirty="0">
                          <a:effectLst/>
                        </a:rPr>
                        <a:t>- </a:t>
                      </a:r>
                      <a:r>
                        <a:rPr lang="en-IN" sz="1000" u="none" strike="noStrike" dirty="0">
                          <a:effectLst/>
                          <a:hlinkClick r:id="rId12"/>
                        </a:rPr>
                        <a:t>99.co</a:t>
                      </a:r>
                      <a:r>
                        <a:rPr lang="en-IN" sz="1000" dirty="0">
                          <a:effectLst/>
                        </a:rPr>
                        <a:t> (Singapore, Indonesia)</a:t>
                      </a:r>
                      <a:br>
                        <a:rPr lang="en-IN" sz="1000" dirty="0">
                          <a:effectLst/>
                        </a:rPr>
                      </a:br>
                      <a:r>
                        <a:rPr lang="en-IN" sz="1000" dirty="0">
                          <a:effectLst/>
                        </a:rPr>
                        <a:t>- </a:t>
                      </a:r>
                      <a:r>
                        <a:rPr lang="en-IN" sz="1000" u="none" strike="noStrike" dirty="0">
                          <a:effectLst/>
                          <a:hlinkClick r:id="rId13"/>
                        </a:rPr>
                        <a:t>JLL Asia Pacific</a:t>
                      </a:r>
                      <a:r>
                        <a:rPr lang="en-IN" sz="1000" dirty="0">
                          <a:effectLst/>
                        </a:rPr>
                        <a:t> (Real estate insights for Asia)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98290"/>
                  </a:ext>
                </a:extLst>
              </a:tr>
              <a:tr h="1326198">
                <a:tc>
                  <a:txBody>
                    <a:bodyPr/>
                    <a:lstStyle/>
                    <a:p>
                      <a:r>
                        <a:rPr lang="en-IN" sz="1000" b="1" dirty="0">
                          <a:effectLst/>
                        </a:rPr>
                        <a:t>Inheritance SOW</a:t>
                      </a:r>
                      <a:endParaRPr lang="en-IN" sz="1000" dirty="0">
                        <a:effectLst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Proof of inheritance (e.g., wills, probate documents, bank statements).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14"/>
                        </a:rPr>
                        <a:t>Singapore Law Watch</a:t>
                      </a:r>
                      <a:r>
                        <a:rPr lang="en-US" sz="1000" dirty="0">
                          <a:effectLst/>
                        </a:rPr>
                        <a:t> (Singapore probate and inheritance laws)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15"/>
                        </a:rPr>
                        <a:t>China Will Registration Centre</a:t>
                      </a:r>
                      <a:r>
                        <a:rPr lang="en-US" sz="1000" dirty="0">
                          <a:effectLst/>
                        </a:rPr>
                        <a:t> (China)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- </a:t>
                      </a:r>
                      <a:r>
                        <a:rPr lang="en-US" sz="1000" u="none" strike="noStrike" dirty="0">
                          <a:effectLst/>
                          <a:hlinkClick r:id="rId16"/>
                        </a:rPr>
                        <a:t>Japan Legal Support Center</a:t>
                      </a:r>
                      <a:r>
                        <a:rPr lang="en-US" sz="1000" dirty="0">
                          <a:effectLst/>
                        </a:rPr>
                        <a:t> (Japan)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573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499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263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NILADRI SEN</dc:creator>
  <cp:lastModifiedBy>NILADRI SEN</cp:lastModifiedBy>
  <cp:revision>1</cp:revision>
  <dcterms:created xsi:type="dcterms:W3CDTF">2025-02-02T09:17:13Z</dcterms:created>
  <dcterms:modified xsi:type="dcterms:W3CDTF">2025-02-02T09:46:59Z</dcterms:modified>
</cp:coreProperties>
</file>